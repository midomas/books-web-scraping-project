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sldIdLst>
    <p:sldId id="256" r:id="rId2"/>
    <p:sldId id="259"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8638B4-418C-5378-C693-E92F10EDFA4E}" v="118" dt="2025-12-26T21:08:40.2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12/26/2025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61467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12/26/2025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78229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12/26/2025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8972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12/26/2025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71347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12/26/2025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10466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12/26/2025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01061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12/26/2025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11936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12/26/2025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35110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12/26/2025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67765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12/26/2025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96088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12/26/2025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014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12/26/2025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491466"/>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14" r:id="rId6"/>
    <p:sldLayoutId id="2147483710" r:id="rId7"/>
    <p:sldLayoutId id="2147483711" r:id="rId8"/>
    <p:sldLayoutId id="2147483712" r:id="rId9"/>
    <p:sldLayoutId id="2147483713" r:id="rId10"/>
    <p:sldLayoutId id="2147483715"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1" name="Rectangle 90">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95324" y="871758"/>
            <a:ext cx="10283452" cy="3871143"/>
          </a:xfrm>
        </p:spPr>
        <p:txBody>
          <a:bodyPr>
            <a:normAutofit/>
          </a:bodyPr>
          <a:lstStyle/>
          <a:p>
            <a:pPr>
              <a:lnSpc>
                <a:spcPct val="90000"/>
              </a:lnSpc>
            </a:pPr>
            <a:r>
              <a:rPr lang="en-US" sz="6000">
                <a:ea typeface="+mj-lt"/>
                <a:cs typeface="+mj-lt"/>
              </a:rPr>
              <a:t>Introduction</a:t>
            </a:r>
            <a:endParaRPr lang="en-US" sz="6000"/>
          </a:p>
          <a:p>
            <a:pPr>
              <a:lnSpc>
                <a:spcPct val="90000"/>
              </a:lnSpc>
            </a:pPr>
            <a:r>
              <a:rPr lang="en-US" sz="6000">
                <a:ea typeface="+mj-lt"/>
                <a:cs typeface="+mj-lt"/>
              </a:rPr>
              <a:t>to Multithreaded</a:t>
            </a:r>
            <a:endParaRPr lang="en-US" sz="6000"/>
          </a:p>
          <a:p>
            <a:pPr>
              <a:lnSpc>
                <a:spcPct val="90000"/>
              </a:lnSpc>
            </a:pPr>
            <a:r>
              <a:rPr lang="en-US" sz="6000">
                <a:ea typeface="+mj-lt"/>
                <a:cs typeface="+mj-lt"/>
              </a:rPr>
              <a:t>Web Scraping &amp;</a:t>
            </a:r>
            <a:endParaRPr lang="en-US" sz="6000"/>
          </a:p>
          <a:p>
            <a:pPr>
              <a:lnSpc>
                <a:spcPct val="90000"/>
              </a:lnSpc>
            </a:pPr>
            <a:r>
              <a:rPr lang="en-US" sz="6000">
                <a:ea typeface="+mj-lt"/>
                <a:cs typeface="+mj-lt"/>
              </a:rPr>
              <a:t>Data Analysis </a:t>
            </a:r>
            <a:endParaRPr lang="en-US" sz="6000"/>
          </a:p>
        </p:txBody>
      </p:sp>
      <p:sp>
        <p:nvSpPr>
          <p:cNvPr id="3" name="Subtitle 2"/>
          <p:cNvSpPr>
            <a:spLocks noGrp="1"/>
          </p:cNvSpPr>
          <p:nvPr>
            <p:ph type="subTitle" idx="1"/>
          </p:nvPr>
        </p:nvSpPr>
        <p:spPr>
          <a:xfrm>
            <a:off x="678426" y="4742900"/>
            <a:ext cx="6991776" cy="1048299"/>
          </a:xfrm>
        </p:spPr>
        <p:txBody>
          <a:bodyPr vert="horz" lIns="91440" tIns="45720" rIns="91440" bIns="45720" rtlCol="0">
            <a:normAutofit/>
          </a:bodyPr>
          <a:lstStyle/>
          <a:p>
            <a:r>
              <a:rPr lang="en-US" sz="2200">
                <a:ea typeface="+mn-lt"/>
                <a:cs typeface="+mn-lt"/>
              </a:rPr>
              <a:t>Mohammed Masadeh 202220304 </a:t>
            </a:r>
            <a:endParaRPr lang="en-US" sz="2200"/>
          </a:p>
          <a:p>
            <a:r>
              <a:rPr lang="en-US" sz="2200">
                <a:ea typeface="+mn-lt"/>
                <a:cs typeface="+mn-lt"/>
              </a:rPr>
              <a:t>Majd Barham 202220292 </a:t>
            </a:r>
            <a:endParaRPr lang="en-US" sz="2200"/>
          </a:p>
        </p:txBody>
      </p:sp>
      <p:cxnSp>
        <p:nvCxnSpPr>
          <p:cNvPr id="93" name="Straight Connector 92">
            <a:extLst>
              <a:ext uri="{FF2B5EF4-FFF2-40B4-BE49-F238E27FC236}">
                <a16:creationId xmlns:a16="http://schemas.microsoft.com/office/drawing/2014/main" id="{9CA98CE3-81A7-4FFE-A047-9AA65998D8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18D91C2B-BDB9-49BE-9C44-E0CFE597A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7485C2-B1C9-9F66-E32A-1F6962E0D518}"/>
              </a:ext>
            </a:extLst>
          </p:cNvPr>
          <p:cNvSpPr>
            <a:spLocks noGrp="1"/>
          </p:cNvSpPr>
          <p:nvPr>
            <p:ph type="title"/>
          </p:nvPr>
        </p:nvSpPr>
        <p:spPr>
          <a:xfrm>
            <a:off x="695324" y="871758"/>
            <a:ext cx="11214785" cy="5215226"/>
          </a:xfrm>
        </p:spPr>
        <p:txBody>
          <a:bodyPr vert="horz" lIns="91440" tIns="45720" rIns="91440" bIns="45720" rtlCol="0" anchor="t">
            <a:noAutofit/>
          </a:bodyPr>
          <a:lstStyle/>
          <a:p>
            <a:pPr marL="285750" indent="-285750">
              <a:lnSpc>
                <a:spcPct val="110000"/>
              </a:lnSpc>
              <a:spcBef>
                <a:spcPts val="1000"/>
              </a:spcBef>
              <a:buFont typeface="Arial"/>
              <a:buChar char="•"/>
            </a:pPr>
            <a:r>
              <a:rPr lang="en-US" sz="1600" dirty="0">
                <a:latin typeface="Arial"/>
                <a:cs typeface="Posterama"/>
              </a:rPr>
              <a:t>we start by importing the required python libraries such as requests, </a:t>
            </a:r>
            <a:r>
              <a:rPr lang="en-US" sz="1600" dirty="0" err="1">
                <a:latin typeface="Arial"/>
                <a:cs typeface="Posterama"/>
              </a:rPr>
              <a:t>beautifulsoup</a:t>
            </a:r>
            <a:r>
              <a:rPr lang="en-US" sz="1600" dirty="0">
                <a:latin typeface="Arial"/>
                <a:cs typeface="Posterama"/>
              </a:rPr>
              <a:t>, threading, </a:t>
            </a:r>
            <a:r>
              <a:rPr lang="en-US" sz="1600" dirty="0" err="1">
                <a:latin typeface="Arial"/>
                <a:cs typeface="Posterama"/>
              </a:rPr>
              <a:t>json</a:t>
            </a:r>
            <a:r>
              <a:rPr lang="en-US" sz="1600" dirty="0">
                <a:latin typeface="Arial"/>
                <a:cs typeface="Posterama"/>
              </a:rPr>
              <a:t>, pandas, and time</a:t>
            </a:r>
          </a:p>
          <a:p>
            <a:pPr marL="285750" indent="-285750">
              <a:lnSpc>
                <a:spcPct val="110000"/>
              </a:lnSpc>
              <a:spcBef>
                <a:spcPts val="1000"/>
              </a:spcBef>
              <a:buFont typeface="Arial"/>
              <a:buChar char="•"/>
            </a:pPr>
            <a:r>
              <a:rPr lang="en-US" sz="1600" dirty="0">
                <a:latin typeface="Arial"/>
                <a:cs typeface="Posterama"/>
              </a:rPr>
              <a:t>then we define the configuration variables including the target website </a:t>
            </a:r>
            <a:r>
              <a:rPr lang="en-US" sz="1600" dirty="0" err="1">
                <a:latin typeface="Arial"/>
                <a:cs typeface="Posterama"/>
              </a:rPr>
              <a:t>url</a:t>
            </a:r>
            <a:r>
              <a:rPr lang="en-US" sz="1600" dirty="0">
                <a:latin typeface="Arial"/>
                <a:cs typeface="Posterama"/>
              </a:rPr>
              <a:t>, number of pages to scrape, and output file names</a:t>
            </a:r>
          </a:p>
          <a:p>
            <a:pPr marL="285750" indent="-285750">
              <a:lnSpc>
                <a:spcPct val="110000"/>
              </a:lnSpc>
              <a:spcBef>
                <a:spcPts val="1000"/>
              </a:spcBef>
              <a:buFont typeface="Arial"/>
              <a:buChar char="•"/>
            </a:pPr>
            <a:r>
              <a:rPr lang="en-US" sz="1600">
                <a:latin typeface="Arial"/>
                <a:cs typeface="Posterama"/>
              </a:rPr>
              <a:t>a shared data list and a thread lock are created to safely store scraped data from multiple threads</a:t>
            </a:r>
            <a:endParaRPr lang="en-US" sz="1600" dirty="0">
              <a:latin typeface="Arial"/>
              <a:cs typeface="Posterama"/>
            </a:endParaRPr>
          </a:p>
          <a:p>
            <a:pPr marL="285750" indent="-285750">
              <a:lnSpc>
                <a:spcPct val="110000"/>
              </a:lnSpc>
              <a:spcBef>
                <a:spcPts val="1000"/>
              </a:spcBef>
              <a:buFont typeface="Arial"/>
              <a:buChar char="•"/>
            </a:pPr>
            <a:r>
              <a:rPr lang="en-US" sz="1600" dirty="0">
                <a:latin typeface="Arial"/>
                <a:cs typeface="Posterama"/>
              </a:rPr>
              <a:t>the scraping function sends http requests to the website and uses </a:t>
            </a:r>
            <a:r>
              <a:rPr lang="en-US" sz="1600" dirty="0" err="1">
                <a:latin typeface="Arial"/>
                <a:cs typeface="Posterama"/>
              </a:rPr>
              <a:t>beautifulsoup</a:t>
            </a:r>
            <a:r>
              <a:rPr lang="en-US" sz="1600" dirty="0">
                <a:latin typeface="Arial"/>
                <a:cs typeface="Posterama"/>
              </a:rPr>
              <a:t> to extract book information such as title, price, availability, and rating</a:t>
            </a:r>
          </a:p>
          <a:p>
            <a:pPr marL="285750" indent="-285750">
              <a:lnSpc>
                <a:spcPct val="110000"/>
              </a:lnSpc>
              <a:spcBef>
                <a:spcPts val="1000"/>
              </a:spcBef>
              <a:buFont typeface="Arial"/>
              <a:buChar char="•"/>
            </a:pPr>
            <a:r>
              <a:rPr lang="en-US" sz="1600">
                <a:latin typeface="Arial"/>
                <a:cs typeface="Posterama"/>
              </a:rPr>
              <a:t>multithreading is implemented by creating a separate thread for each page to scrape pages in parallel</a:t>
            </a:r>
            <a:endParaRPr lang="en-US" sz="1600" dirty="0">
              <a:latin typeface="Arial"/>
              <a:cs typeface="Posterama"/>
            </a:endParaRPr>
          </a:p>
          <a:p>
            <a:pPr marL="285750" indent="-285750">
              <a:lnSpc>
                <a:spcPct val="110000"/>
              </a:lnSpc>
              <a:spcBef>
                <a:spcPts val="1000"/>
              </a:spcBef>
              <a:buFont typeface="Arial"/>
              <a:buChar char="•"/>
            </a:pPr>
            <a:r>
              <a:rPr lang="en-US" sz="1600" dirty="0">
                <a:latin typeface="Arial"/>
                <a:cs typeface="Posterama"/>
              </a:rPr>
              <a:t>after all threads finish, the collected data is saved into a </a:t>
            </a:r>
            <a:r>
              <a:rPr lang="en-US" sz="1600" dirty="0" err="1">
                <a:latin typeface="Arial"/>
                <a:cs typeface="Posterama"/>
              </a:rPr>
              <a:t>json</a:t>
            </a:r>
            <a:r>
              <a:rPr lang="en-US" sz="1600" dirty="0">
                <a:latin typeface="Arial"/>
                <a:cs typeface="Posterama"/>
              </a:rPr>
              <a:t> file for structured storage</a:t>
            </a:r>
          </a:p>
          <a:p>
            <a:pPr marL="285750" indent="-285750">
              <a:lnSpc>
                <a:spcPct val="110000"/>
              </a:lnSpc>
              <a:spcBef>
                <a:spcPts val="1000"/>
              </a:spcBef>
              <a:buFont typeface="Arial"/>
              <a:buChar char="•"/>
            </a:pPr>
            <a:r>
              <a:rPr lang="en-US" sz="1600" dirty="0">
                <a:latin typeface="Arial"/>
                <a:cs typeface="Posterama"/>
              </a:rPr>
              <a:t>pandas is then used to load the </a:t>
            </a:r>
            <a:r>
              <a:rPr lang="en-US" sz="1600" dirty="0" err="1">
                <a:latin typeface="Arial"/>
                <a:cs typeface="Posterama"/>
              </a:rPr>
              <a:t>json</a:t>
            </a:r>
            <a:r>
              <a:rPr lang="en-US" sz="1600" dirty="0">
                <a:latin typeface="Arial"/>
                <a:cs typeface="Posterama"/>
              </a:rPr>
              <a:t> file and preprocess the data by cleaning price values, fixing encoding issues, and converting text ratings into numeric scores</a:t>
            </a:r>
          </a:p>
          <a:p>
            <a:pPr marL="285750" indent="-285750">
              <a:lnSpc>
                <a:spcPct val="110000"/>
              </a:lnSpc>
              <a:spcBef>
                <a:spcPts val="1000"/>
              </a:spcBef>
              <a:buFont typeface="Arial"/>
              <a:buChar char="•"/>
            </a:pPr>
            <a:r>
              <a:rPr lang="en-US" sz="1600" dirty="0">
                <a:latin typeface="Arial"/>
                <a:cs typeface="Posterama"/>
              </a:rPr>
              <a:t>finally, simple data analysis is performed to calculate the average book price and count highly </a:t>
            </a:r>
            <a:r>
              <a:rPr lang="en-US" sz="1600">
                <a:latin typeface="Arial"/>
                <a:cs typeface="Posterama"/>
              </a:rPr>
              <a:t>rated books</a:t>
            </a:r>
            <a:r>
              <a:rPr lang="en-US" sz="1600" dirty="0">
                <a:latin typeface="Arial"/>
                <a:cs typeface="Posterama"/>
              </a:rPr>
              <a:t>, and the processed data is saved to a csv file</a:t>
            </a:r>
          </a:p>
          <a:p>
            <a:pPr marL="285750" indent="-285750">
              <a:lnSpc>
                <a:spcPct val="110000"/>
              </a:lnSpc>
              <a:spcBef>
                <a:spcPts val="1000"/>
              </a:spcBef>
              <a:buFont typeface="Arial"/>
              <a:buChar char="•"/>
            </a:pPr>
            <a:endParaRPr lang="en-US" sz="1600" dirty="0">
              <a:latin typeface="Arial"/>
              <a:cs typeface="Posterama"/>
            </a:endParaRPr>
          </a:p>
          <a:p>
            <a:endParaRPr lang="en-US" sz="1600" dirty="0">
              <a:latin typeface="Arial"/>
              <a:cs typeface="Posterama"/>
            </a:endParaRPr>
          </a:p>
        </p:txBody>
      </p:sp>
      <p:cxnSp>
        <p:nvCxnSpPr>
          <p:cNvPr id="14" name="Straight Connector 13">
            <a:extLst>
              <a:ext uri="{FF2B5EF4-FFF2-40B4-BE49-F238E27FC236}">
                <a16:creationId xmlns:a16="http://schemas.microsoft.com/office/drawing/2014/main" id="{9CA98CE3-81A7-4FFE-A047-9AA65998D8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D91C2B-BDB9-49BE-9C44-E0CFE597A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670949"/>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3C57FC-F7AF-49CD-4C39-D2D4876F39DD}"/>
              </a:ext>
            </a:extLst>
          </p:cNvPr>
          <p:cNvSpPr>
            <a:spLocks noGrp="1"/>
          </p:cNvSpPr>
          <p:nvPr>
            <p:ph type="title"/>
          </p:nvPr>
        </p:nvSpPr>
        <p:spPr>
          <a:xfrm>
            <a:off x="685800" y="899024"/>
            <a:ext cx="3076032" cy="3914947"/>
          </a:xfrm>
        </p:spPr>
        <p:txBody>
          <a:bodyPr vert="horz" lIns="91440" tIns="45720" rIns="91440" bIns="45720" rtlCol="0" anchor="t">
            <a:normAutofit/>
          </a:bodyPr>
          <a:lstStyle/>
          <a:p>
            <a:r>
              <a:rPr lang="en-US" dirty="0"/>
              <a:t>Thanks for for listening</a:t>
            </a:r>
          </a:p>
        </p:txBody>
      </p:sp>
      <p:cxnSp>
        <p:nvCxnSpPr>
          <p:cNvPr id="20" name="Straight Connector 19">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Graphic 5" descr="Smiling Face with No Fill">
            <a:extLst>
              <a:ext uri="{FF2B5EF4-FFF2-40B4-BE49-F238E27FC236}">
                <a16:creationId xmlns:a16="http://schemas.microsoft.com/office/drawing/2014/main" id="{E882E28E-3733-9706-791F-3B47999AD6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10149" y="723901"/>
            <a:ext cx="5410200" cy="5410200"/>
          </a:xfrm>
          <a:prstGeom prst="rect">
            <a:avLst/>
          </a:prstGeom>
        </p:spPr>
      </p:pic>
    </p:spTree>
    <p:extLst>
      <p:ext uri="{BB962C8B-B14F-4D97-AF65-F5344CB8AC3E}">
        <p14:creationId xmlns:p14="http://schemas.microsoft.com/office/powerpoint/2010/main" val="1073251648"/>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ChronicleVTI</vt:lpstr>
      <vt:lpstr>Introduction to Multithreaded Web Scraping &amp; Data Analysis </vt:lpstr>
      <vt:lpstr>we start by importing the required python libraries such as requests, beautifulsoup, threading, json, pandas, and time then we define the configuration variables including the target website url, number of pages to scrape, and output file names a shared data list and a thread lock are created to safely store scraped data from multiple threads the scraping function sends http requests to the website and uses beautifulsoup to extract book information such as title, price, availability, and rating multithreading is implemented by creating a separate thread for each page to scrape pages in parallel after all threads finish, the collected data is saved into a json file for structured storage pandas is then used to load the json file and preprocess the data by cleaning price values, fixing encoding issues, and converting text ratings into numeric scores finally, simple data analysis is performed to calculate the average book price and count highly rated books, and the processed data is saved to a csv file  </vt:lpstr>
      <vt:lpstr>Thanks for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82</cp:revision>
  <dcterms:created xsi:type="dcterms:W3CDTF">2025-12-26T20:38:54Z</dcterms:created>
  <dcterms:modified xsi:type="dcterms:W3CDTF">2025-12-26T21:09:25Z</dcterms:modified>
</cp:coreProperties>
</file>